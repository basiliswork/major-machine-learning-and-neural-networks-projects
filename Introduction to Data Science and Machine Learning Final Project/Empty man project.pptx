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6"/>
  </p:notesMasterIdLst>
  <p:sldIdLst>
    <p:sldId id="256" r:id="rId2"/>
    <p:sldId id="259" r:id="rId3"/>
    <p:sldId id="261" r:id="rId4"/>
    <p:sldId id="258" r:id="rId5"/>
    <p:sldId id="271" r:id="rId6"/>
    <p:sldId id="296" r:id="rId7"/>
    <p:sldId id="297" r:id="rId8"/>
    <p:sldId id="262" r:id="rId9"/>
    <p:sldId id="298" r:id="rId10"/>
    <p:sldId id="299" r:id="rId11"/>
    <p:sldId id="300" r:id="rId12"/>
    <p:sldId id="302" r:id="rId13"/>
    <p:sldId id="301" r:id="rId14"/>
    <p:sldId id="274" r:id="rId15"/>
  </p:sldIdLst>
  <p:sldSz cx="9144000" cy="5143500" type="screen16x9"/>
  <p:notesSz cx="6858000" cy="9144000"/>
  <p:embeddedFontLst>
    <p:embeddedFont>
      <p:font typeface="Asap" panose="020B0604020202020204" charset="0"/>
      <p:regular r:id="rId17"/>
      <p:bold r:id="rId18"/>
      <p:italic r:id="rId19"/>
      <p:boldItalic r:id="rId20"/>
    </p:embeddedFont>
    <p:embeddedFont>
      <p:font typeface="DM Sans" pitchFamily="2" charset="0"/>
      <p:regular r:id="rId21"/>
      <p:bold r:id="rId22"/>
      <p:italic r:id="rId23"/>
      <p:boldItalic r:id="rId24"/>
    </p:embeddedFont>
    <p:embeddedFont>
      <p:font typeface="Helvetica" panose="020B0604020202020204" pitchFamily="34" charset="0"/>
      <p:regular r:id="rId25"/>
      <p:bold r:id="rId26"/>
      <p:italic r:id="rId27"/>
      <p:boldItalic r:id="rId28"/>
    </p:embeddedFont>
    <p:embeddedFont>
      <p:font typeface="Nunito Light" pitchFamily="2" charset="0"/>
      <p:regular r:id="rId29"/>
      <p:italic r:id="rId30"/>
    </p:embeddedFont>
    <p:embeddedFont>
      <p:font typeface="Titillium Web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E1C401-8D57-4A1E-9C64-10C47AB42281}">
  <a:tblStyle styleId="{53E1C401-8D57-4A1E-9C64-10C47AB422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6FE9F9F-F987-4554-B9F9-AD1FD633EF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562"/>
      </p:cViewPr>
      <p:guideLst>
        <p:guide orient="horz" pos="1644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767A9EF5-ABA3-75A2-7A19-B524DF2C5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dfce81f19_0_45:notes">
            <a:extLst>
              <a:ext uri="{FF2B5EF4-FFF2-40B4-BE49-F238E27FC236}">
                <a16:creationId xmlns:a16="http://schemas.microsoft.com/office/drawing/2014/main" id="{7563E629-FB5F-FF2E-5FD3-40F777862A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4dfce81f19_0_45:notes">
            <a:extLst>
              <a:ext uri="{FF2B5EF4-FFF2-40B4-BE49-F238E27FC236}">
                <a16:creationId xmlns:a16="http://schemas.microsoft.com/office/drawing/2014/main" id="{5B4EE713-E903-47FF-C818-60859A5D2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8057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4AAF570B-556D-DF29-638B-28136ED8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dfce81f19_0_45:notes">
            <a:extLst>
              <a:ext uri="{FF2B5EF4-FFF2-40B4-BE49-F238E27FC236}">
                <a16:creationId xmlns:a16="http://schemas.microsoft.com/office/drawing/2014/main" id="{6226BB5B-9B36-B45C-248B-951FF19D1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4dfce81f19_0_45:notes">
            <a:extLst>
              <a:ext uri="{FF2B5EF4-FFF2-40B4-BE49-F238E27FC236}">
                <a16:creationId xmlns:a16="http://schemas.microsoft.com/office/drawing/2014/main" id="{65357D66-0F27-1399-5916-9FFEAE3ADB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248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1C451F24-674F-C506-1CC2-1178C008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4_2738:notes">
            <a:extLst>
              <a:ext uri="{FF2B5EF4-FFF2-40B4-BE49-F238E27FC236}">
                <a16:creationId xmlns:a16="http://schemas.microsoft.com/office/drawing/2014/main" id="{154C14F0-B494-5DC1-13B3-DD1D06B70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4_2738:notes">
            <a:extLst>
              <a:ext uri="{FF2B5EF4-FFF2-40B4-BE49-F238E27FC236}">
                <a16:creationId xmlns:a16="http://schemas.microsoft.com/office/drawing/2014/main" id="{D5435B19-6283-804A-4CB8-F9E2B2509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9595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DC2157A0-E0C5-BF4B-6A6D-682AC13CD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4_2738:notes">
            <a:extLst>
              <a:ext uri="{FF2B5EF4-FFF2-40B4-BE49-F238E27FC236}">
                <a16:creationId xmlns:a16="http://schemas.microsoft.com/office/drawing/2014/main" id="{329EEDC6-B691-1851-0848-1AC6E7A249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4_2738:notes">
            <a:extLst>
              <a:ext uri="{FF2B5EF4-FFF2-40B4-BE49-F238E27FC236}">
                <a16:creationId xmlns:a16="http://schemas.microsoft.com/office/drawing/2014/main" id="{A85AE1D1-B4B0-6723-3E81-99D2156FD5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0239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83F518BD-15D3-C4EC-E5B1-74CC755E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4_2738:notes">
            <a:extLst>
              <a:ext uri="{FF2B5EF4-FFF2-40B4-BE49-F238E27FC236}">
                <a16:creationId xmlns:a16="http://schemas.microsoft.com/office/drawing/2014/main" id="{E3B0E3B0-C1B4-1C0D-94A3-DC8A57D16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4_2738:notes">
            <a:extLst>
              <a:ext uri="{FF2B5EF4-FFF2-40B4-BE49-F238E27FC236}">
                <a16:creationId xmlns:a16="http://schemas.microsoft.com/office/drawing/2014/main" id="{F17F9107-D5BE-9CD6-A224-4EF1D73B4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0870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633975" y="1113750"/>
            <a:ext cx="3796800" cy="225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076975" y="3365250"/>
            <a:ext cx="23538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12" name="Google Shape;12;p2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9110095" flipH="1">
              <a:off x="2369036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7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60" name="Google Shape;60;p7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62;p7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63" name="Google Shape;63;p7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4494325" y="907044"/>
            <a:ext cx="3742800" cy="5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subTitle" idx="1"/>
          </p:nvPr>
        </p:nvSpPr>
        <p:spPr>
          <a:xfrm>
            <a:off x="4494325" y="1526519"/>
            <a:ext cx="3742800" cy="26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906875" y="678300"/>
            <a:ext cx="3253500" cy="37869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75" name="Google Shape;75;p9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9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78" name="Google Shape;78;p9"/>
            <p:cNvSpPr/>
            <p:nvPr/>
          </p:nvSpPr>
          <p:spPr>
            <a:xfrm>
              <a:off x="-129830" y="3390059"/>
              <a:ext cx="646623" cy="407481"/>
            </a:xfrm>
            <a:custGeom>
              <a:avLst/>
              <a:gdLst/>
              <a:ahLst/>
              <a:cxnLst/>
              <a:rect l="l" t="t" r="r" b="b"/>
              <a:pathLst>
                <a:path w="646623" h="407481" extrusionOk="0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-129830" y="3836475"/>
              <a:ext cx="646622" cy="407808"/>
            </a:xfrm>
            <a:custGeom>
              <a:avLst/>
              <a:gdLst/>
              <a:ahLst/>
              <a:cxnLst/>
              <a:rect l="l" t="t" r="r" b="b"/>
              <a:pathLst>
                <a:path w="646622" h="407808" extrusionOk="0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4613788" y="1408725"/>
            <a:ext cx="3699300" cy="27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2"/>
          </p:nvPr>
        </p:nvSpPr>
        <p:spPr>
          <a:xfrm>
            <a:off x="830912" y="1408725"/>
            <a:ext cx="3699300" cy="27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3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95" name="Google Shape;95;p13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3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" name="Google Shape;107;p13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08" name="Google Shape;108;p13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6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145" name="Google Shape;145;p16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6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148" name="Google Shape;148;p16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49" name="Google Shape;149;p16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6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" name="Google Shape;151;p16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52" name="Google Shape;152;p16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6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1"/>
          </p:nvPr>
        </p:nvSpPr>
        <p:spPr>
          <a:xfrm>
            <a:off x="720100" y="2337701"/>
            <a:ext cx="2379000" cy="18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ubTitle" idx="2"/>
          </p:nvPr>
        </p:nvSpPr>
        <p:spPr>
          <a:xfrm>
            <a:off x="3382535" y="2337701"/>
            <a:ext cx="2379000" cy="18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subTitle" idx="3"/>
          </p:nvPr>
        </p:nvSpPr>
        <p:spPr>
          <a:xfrm>
            <a:off x="6045003" y="2337701"/>
            <a:ext cx="2379000" cy="18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4"/>
          </p:nvPr>
        </p:nvSpPr>
        <p:spPr>
          <a:xfrm>
            <a:off x="720100" y="1764975"/>
            <a:ext cx="2379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subTitle" idx="5"/>
          </p:nvPr>
        </p:nvSpPr>
        <p:spPr>
          <a:xfrm>
            <a:off x="3382539" y="1764975"/>
            <a:ext cx="2379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subTitle" idx="6"/>
          </p:nvPr>
        </p:nvSpPr>
        <p:spPr>
          <a:xfrm>
            <a:off x="6045003" y="1764975"/>
            <a:ext cx="2379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7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63" name="Google Shape;163;p17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17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169" name="Google Shape;169;p17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76" name="Google Shape;176;p17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1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2"/>
          </p:nvPr>
        </p:nvSpPr>
        <p:spPr>
          <a:xfrm>
            <a:off x="1521525" y="2382084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3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ubTitle" idx="4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title" idx="5" hasCustomPrompt="1"/>
          </p:nvPr>
        </p:nvSpPr>
        <p:spPr>
          <a:xfrm>
            <a:off x="837975" y="1338325"/>
            <a:ext cx="6945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7"/>
          <p:cNvSpPr txBox="1">
            <a:spLocks noGrp="1"/>
          </p:cNvSpPr>
          <p:nvPr>
            <p:ph type="title" idx="6" hasCustomPrompt="1"/>
          </p:nvPr>
        </p:nvSpPr>
        <p:spPr>
          <a:xfrm>
            <a:off x="837975" y="29725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 idx="7" hasCustomPrompt="1"/>
          </p:nvPr>
        </p:nvSpPr>
        <p:spPr>
          <a:xfrm>
            <a:off x="837975" y="21542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8" hasCustomPrompt="1"/>
          </p:nvPr>
        </p:nvSpPr>
        <p:spPr>
          <a:xfrm>
            <a:off x="837975" y="37908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7"/>
          <p:cNvSpPr txBox="1">
            <a:spLocks noGrp="1"/>
          </p:cNvSpPr>
          <p:nvPr>
            <p:ph type="subTitle" idx="9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subTitle" idx="13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subTitle" idx="14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subTitle" idx="15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8"/>
          <p:cNvGrpSpPr/>
          <p:nvPr/>
        </p:nvGrpSpPr>
        <p:grpSpPr>
          <a:xfrm>
            <a:off x="8" y="-1779122"/>
            <a:ext cx="8032720" cy="9488760"/>
            <a:chOff x="8" y="-1779122"/>
            <a:chExt cx="8032720" cy="9488760"/>
          </a:xfrm>
        </p:grpSpPr>
        <p:sp>
          <p:nvSpPr>
            <p:cNvPr id="193" name="Google Shape;193;p18"/>
            <p:cNvSpPr/>
            <p:nvPr/>
          </p:nvSpPr>
          <p:spPr>
            <a:xfrm flipH="1">
              <a:off x="8" y="4761517"/>
              <a:ext cx="3167369" cy="2948121"/>
            </a:xfrm>
            <a:custGeom>
              <a:avLst/>
              <a:gdLst/>
              <a:ahLst/>
              <a:cxnLst/>
              <a:rect l="l" t="t" r="r" b="b"/>
              <a:pathLst>
                <a:path w="3167369" h="2948121" extrusionOk="0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 rot="-1701538" flipH="1">
              <a:off x="5216436" y="-1284494"/>
              <a:ext cx="2539372" cy="180758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196" name="Google Shape;196;p18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8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18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202" name="Google Shape;202;p18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8" name="Google Shape;20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1"/>
          </p:nvPr>
        </p:nvSpPr>
        <p:spPr>
          <a:xfrm>
            <a:off x="713225" y="1913462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2"/>
          </p:nvPr>
        </p:nvSpPr>
        <p:spPr>
          <a:xfrm>
            <a:off x="3308250" y="1913462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3"/>
          </p:nvPr>
        </p:nvSpPr>
        <p:spPr>
          <a:xfrm>
            <a:off x="713225" y="3717800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4"/>
          </p:nvPr>
        </p:nvSpPr>
        <p:spPr>
          <a:xfrm>
            <a:off x="3308250" y="3717800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5"/>
          </p:nvPr>
        </p:nvSpPr>
        <p:spPr>
          <a:xfrm>
            <a:off x="5903851" y="1913462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6"/>
          </p:nvPr>
        </p:nvSpPr>
        <p:spPr>
          <a:xfrm>
            <a:off x="5903851" y="3717800"/>
            <a:ext cx="25275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7"/>
          </p:nvPr>
        </p:nvSpPr>
        <p:spPr>
          <a:xfrm>
            <a:off x="714363" y="1536109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8"/>
          </p:nvPr>
        </p:nvSpPr>
        <p:spPr>
          <a:xfrm>
            <a:off x="3309388" y="1536109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9"/>
          </p:nvPr>
        </p:nvSpPr>
        <p:spPr>
          <a:xfrm>
            <a:off x="5904989" y="1536109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13"/>
          </p:nvPr>
        </p:nvSpPr>
        <p:spPr>
          <a:xfrm>
            <a:off x="714363" y="3340437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14"/>
          </p:nvPr>
        </p:nvSpPr>
        <p:spPr>
          <a:xfrm>
            <a:off x="3309388" y="3340437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15"/>
          </p:nvPr>
        </p:nvSpPr>
        <p:spPr>
          <a:xfrm>
            <a:off x="5904989" y="3340437"/>
            <a:ext cx="25251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0"/>
          <p:cNvGrpSpPr/>
          <p:nvPr/>
        </p:nvGrpSpPr>
        <p:grpSpPr>
          <a:xfrm>
            <a:off x="-1889882" y="-2665463"/>
            <a:ext cx="11164449" cy="9216288"/>
            <a:chOff x="-1889882" y="-2665463"/>
            <a:chExt cx="11164449" cy="9216288"/>
          </a:xfrm>
        </p:grpSpPr>
        <p:sp>
          <p:nvSpPr>
            <p:cNvPr id="230" name="Google Shape;230;p20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avLst/>
              <a:gdLst/>
              <a:ahLst/>
              <a:cxnLst/>
              <a:rect l="l" t="t" r="r" b="b"/>
              <a:pathLst>
                <a:path w="2987585" h="3185047" extrusionOk="0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-129830" y="-482918"/>
            <a:ext cx="9450022" cy="4350376"/>
            <a:chOff x="-129830" y="-482918"/>
            <a:chExt cx="9450022" cy="4350376"/>
          </a:xfrm>
        </p:grpSpPr>
        <p:grpSp>
          <p:nvGrpSpPr>
            <p:cNvPr id="233" name="Google Shape;233;p20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avLst/>
                <a:gdLst/>
                <a:ahLst/>
                <a:cxnLst/>
                <a:rect l="l" t="t" r="r" b="b"/>
                <a:pathLst>
                  <a:path w="646623" h="407481" extrusionOk="0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20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avLst/>
                <a:gdLst/>
                <a:ahLst/>
                <a:cxnLst/>
                <a:rect l="l" t="t" r="r" b="b"/>
                <a:pathLst>
                  <a:path w="646622" h="407808" extrusionOk="0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20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37" name="Google Shape;237;p20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avLst/>
                <a:gdLst/>
                <a:ahLst/>
                <a:cxnLst/>
                <a:rect l="l" t="t" r="r" b="b"/>
                <a:pathLst>
                  <a:path w="1822481" h="2084112" extrusionOk="0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20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avLst/>
                <a:gdLst/>
                <a:ahLst/>
                <a:cxnLst/>
                <a:rect l="l" t="t" r="r" b="b"/>
                <a:pathLst>
                  <a:path w="1311895" h="1502495" extrusionOk="0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1"/>
          <p:cNvGrpSpPr/>
          <p:nvPr/>
        </p:nvGrpSpPr>
        <p:grpSpPr>
          <a:xfrm>
            <a:off x="2092494" y="-1456321"/>
            <a:ext cx="6852244" cy="8359981"/>
            <a:chOff x="2092494" y="-1456321"/>
            <a:chExt cx="6852244" cy="8359981"/>
          </a:xfrm>
        </p:grpSpPr>
        <p:sp>
          <p:nvSpPr>
            <p:cNvPr id="241" name="Google Shape;241;p21"/>
            <p:cNvSpPr/>
            <p:nvPr/>
          </p:nvSpPr>
          <p:spPr>
            <a:xfrm>
              <a:off x="6441178" y="-1456321"/>
              <a:ext cx="2503560" cy="1995809"/>
            </a:xfrm>
            <a:custGeom>
              <a:avLst/>
              <a:gdLst/>
              <a:ahLst/>
              <a:cxnLst/>
              <a:rect l="l" t="t" r="r" b="b"/>
              <a:pathLst>
                <a:path w="2503560" h="1995809" extrusionOk="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 rot="9110095" flipH="1">
              <a:off x="2369036" y="4601438"/>
              <a:ext cx="2541957" cy="1809429"/>
            </a:xfrm>
            <a:custGeom>
              <a:avLst/>
              <a:gdLst/>
              <a:ahLst/>
              <a:cxnLst/>
              <a:rect l="l" t="t" r="r" b="b"/>
              <a:pathLst>
                <a:path w="2539340" h="1807566" extrusionOk="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-1194131" y="-559931"/>
            <a:ext cx="10595334" cy="5978443"/>
            <a:chOff x="-1194131" y="-559931"/>
            <a:chExt cx="10595334" cy="5978443"/>
          </a:xfrm>
        </p:grpSpPr>
        <p:grpSp>
          <p:nvGrpSpPr>
            <p:cNvPr id="244" name="Google Shape;244;p21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45" name="Google Shape;245;p21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avLst/>
                <a:gdLst/>
                <a:ahLst/>
                <a:cxnLst/>
                <a:rect l="l" t="t" r="r" b="b"/>
                <a:pathLst>
                  <a:path w="1928790" h="2141607" extrusionOk="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avLst/>
                <a:gdLst/>
                <a:ahLst/>
                <a:cxnLst/>
                <a:rect l="l" t="t" r="r" b="b"/>
                <a:pathLst>
                  <a:path w="1086943" h="903192" extrusionOk="0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avLst/>
                <a:gdLst/>
                <a:ahLst/>
                <a:cxnLst/>
                <a:rect l="l" t="t" r="r" b="b"/>
                <a:pathLst>
                  <a:path w="678657" h="425067" extrusionOk="0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avLst/>
                <a:gdLst/>
                <a:ahLst/>
                <a:cxnLst/>
                <a:rect l="l" t="t" r="r" b="b"/>
                <a:pathLst>
                  <a:path w="678612" h="425001" extrusionOk="0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21"/>
            <p:cNvGrpSpPr/>
            <p:nvPr/>
          </p:nvGrpSpPr>
          <p:grpSpPr>
            <a:xfrm>
              <a:off x="7474336" y="3174083"/>
              <a:ext cx="1926867" cy="2244429"/>
              <a:chOff x="7474336" y="3174083"/>
              <a:chExt cx="1926867" cy="2244429"/>
            </a:xfrm>
          </p:grpSpPr>
          <p:sp>
            <p:nvSpPr>
              <p:cNvPr id="250" name="Google Shape;250;p21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6" h="460262" extrusionOk="0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21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avLst/>
                <a:gdLst/>
                <a:ahLst/>
                <a:cxnLst/>
                <a:rect l="l" t="t" r="r" b="b"/>
                <a:pathLst>
                  <a:path w="333800" h="460262" extrusionOk="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1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avLst/>
                <a:gdLst/>
                <a:ahLst/>
                <a:cxnLst/>
                <a:rect l="l" t="t" r="r" b="b"/>
                <a:pathLst>
                  <a:path w="811731" h="1471319" extrusionOk="0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1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avLst/>
                <a:gdLst/>
                <a:ahLst/>
                <a:cxnLst/>
                <a:rect l="l" t="t" r="r" b="b"/>
                <a:pathLst>
                  <a:path w="884845" h="1660173" extrusionOk="0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avLst/>
                <a:gdLst/>
                <a:ahLst/>
                <a:cxnLst/>
                <a:rect l="l" t="t" r="r" b="b"/>
                <a:pathLst>
                  <a:path w="675840" h="424850" extrusionOk="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8" r:id="rId4"/>
    <p:sldLayoutId id="2147483659" r:id="rId5"/>
    <p:sldLayoutId id="2147483662" r:id="rId6"/>
    <p:sldLayoutId id="2147483663" r:id="rId7"/>
    <p:sldLayoutId id="2147483664" r:id="rId8"/>
    <p:sldLayoutId id="2147483666" r:id="rId9"/>
    <p:sldLayoutId id="214748366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>
            <a:spLocks noGrp="1"/>
          </p:cNvSpPr>
          <p:nvPr>
            <p:ph type="ctrTitle"/>
          </p:nvPr>
        </p:nvSpPr>
        <p:spPr>
          <a:xfrm>
            <a:off x="394712" y="1322280"/>
            <a:ext cx="8354575" cy="225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  Predictions </a:t>
            </a:r>
            <a:br>
              <a:rPr lang="en" dirty="0"/>
            </a:br>
            <a:r>
              <a:rPr lang="en" dirty="0"/>
              <a:t>for Superconductors</a:t>
            </a:r>
            <a:endParaRPr dirty="0"/>
          </a:p>
        </p:txBody>
      </p:sp>
      <p:sp>
        <p:nvSpPr>
          <p:cNvPr id="267" name="Google Shape;267;p25"/>
          <p:cNvSpPr txBox="1">
            <a:spLocks noGrp="1"/>
          </p:cNvSpPr>
          <p:nvPr>
            <p:ph type="subTitle" idx="1"/>
          </p:nvPr>
        </p:nvSpPr>
        <p:spPr>
          <a:xfrm>
            <a:off x="470912" y="3482340"/>
            <a:ext cx="2746985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Vasileios Feidantsis ph5320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Grigorios Tersenov mst1996</a:t>
            </a:r>
            <a:endParaRPr dirty="0"/>
          </a:p>
        </p:txBody>
      </p:sp>
      <p:pic>
        <p:nvPicPr>
          <p:cNvPr id="4100" name="Picture 4" descr="International call for expression of interest - Study in Greece">
            <a:extLst>
              <a:ext uri="{FF2B5EF4-FFF2-40B4-BE49-F238E27FC236}">
                <a16:creationId xmlns:a16="http://schemas.microsoft.com/office/drawing/2014/main" id="{BB8BF3C8-3A23-307F-9E9D-2BA3B94A2D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75" t="22964" r="23445" b="23525"/>
          <a:stretch/>
        </p:blipFill>
        <p:spPr bwMode="auto">
          <a:xfrm>
            <a:off x="3040380" y="0"/>
            <a:ext cx="2933700" cy="225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"/>
          <p:cNvSpPr txBox="1">
            <a:spLocks noGrp="1"/>
          </p:cNvSpPr>
          <p:nvPr>
            <p:ph type="title"/>
          </p:nvPr>
        </p:nvSpPr>
        <p:spPr>
          <a:xfrm>
            <a:off x="720000" y="4467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grpSp>
        <p:nvGrpSpPr>
          <p:cNvPr id="390" name="Google Shape;390;p28"/>
          <p:cNvGrpSpPr/>
          <p:nvPr/>
        </p:nvGrpSpPr>
        <p:grpSpPr>
          <a:xfrm>
            <a:off x="7511876" y="-463868"/>
            <a:ext cx="1627340" cy="1899886"/>
            <a:chOff x="7511876" y="-463868"/>
            <a:chExt cx="1627340" cy="1899886"/>
          </a:xfrm>
        </p:grpSpPr>
        <p:sp>
          <p:nvSpPr>
            <p:cNvPr id="391" name="Google Shape;391;p28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50" name="Picture 2" descr="Superconductor - Working, Properties, Superconductor Types, FAQs">
            <a:extLst>
              <a:ext uri="{FF2B5EF4-FFF2-40B4-BE49-F238E27FC236}">
                <a16:creationId xmlns:a16="http://schemas.microsoft.com/office/drawing/2014/main" id="{03D03535-C41E-810C-507F-44CFFB4E2F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4" r="15116"/>
          <a:stretch/>
        </p:blipFill>
        <p:spPr bwMode="auto">
          <a:xfrm>
            <a:off x="5234312" y="1367346"/>
            <a:ext cx="3337560" cy="275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FD5F0502-F47A-5C68-C60F-117CE4B52C4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84860" y="1783081"/>
            <a:ext cx="3429000" cy="2700284"/>
          </a:xfr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Superconductors</a:t>
            </a: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are materials with zero electrical</a:t>
            </a:r>
            <a:r>
              <a:rPr kumimoji="0" lang="en-US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kumimoji="0" lang="en-US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a</a:t>
            </a: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kumimoji="0" lang="en-US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certain </a:t>
            </a: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critical temperature.</a:t>
            </a:r>
            <a:endParaRPr kumimoji="0" lang="en-US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l-GR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This project focuses on predicting critical temperatures and exploring potential high-Tc superconductors.</a:t>
            </a:r>
            <a:endParaRPr kumimoji="0" lang="el-GR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0"/>
          <p:cNvSpPr txBox="1">
            <a:spLocks noGrp="1"/>
          </p:cNvSpPr>
          <p:nvPr>
            <p:ph type="title"/>
          </p:nvPr>
        </p:nvSpPr>
        <p:spPr>
          <a:xfrm>
            <a:off x="-4783" y="300989"/>
            <a:ext cx="9143999" cy="90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Dataset </a:t>
            </a:r>
            <a:r>
              <a:rPr lang="en-US" sz="2500" dirty="0"/>
              <a:t>Overview </a:t>
            </a:r>
            <a:endParaRPr sz="2500" dirty="0"/>
          </a:p>
        </p:txBody>
      </p:sp>
      <p:grpSp>
        <p:nvGrpSpPr>
          <p:cNvPr id="498" name="Google Shape;498;p30"/>
          <p:cNvGrpSpPr/>
          <p:nvPr/>
        </p:nvGrpSpPr>
        <p:grpSpPr>
          <a:xfrm>
            <a:off x="7511876" y="-387668"/>
            <a:ext cx="1627340" cy="1899886"/>
            <a:chOff x="7511876" y="-463868"/>
            <a:chExt cx="1627340" cy="1899886"/>
          </a:xfrm>
        </p:grpSpPr>
        <p:sp>
          <p:nvSpPr>
            <p:cNvPr id="499" name="Google Shape;499;p30"/>
            <p:cNvSpPr/>
            <p:nvPr/>
          </p:nvSpPr>
          <p:spPr>
            <a:xfrm>
              <a:off x="7511876" y="-463868"/>
              <a:ext cx="1594671" cy="1823598"/>
            </a:xfrm>
            <a:custGeom>
              <a:avLst/>
              <a:gdLst/>
              <a:ahLst/>
              <a:cxnLst/>
              <a:rect l="l" t="t" r="r" b="b"/>
              <a:pathLst>
                <a:path w="1822481" h="2084112" extrusionOk="0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30"/>
            <p:cNvSpPr/>
            <p:nvPr/>
          </p:nvSpPr>
          <p:spPr>
            <a:xfrm>
              <a:off x="7991308" y="121335"/>
              <a:ext cx="1147908" cy="1314683"/>
            </a:xfrm>
            <a:custGeom>
              <a:avLst/>
              <a:gdLst/>
              <a:ahLst/>
              <a:cxnLst/>
              <a:rect l="l" t="t" r="r" b="b"/>
              <a:pathLst>
                <a:path w="1311895" h="1502495" extrusionOk="0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AutoShape 2" descr="Εικόνα αποτελέσματος">
            <a:extLst>
              <a:ext uri="{FF2B5EF4-FFF2-40B4-BE49-F238E27FC236}">
                <a16:creationId xmlns:a16="http://schemas.microsoft.com/office/drawing/2014/main" id="{E72C716E-21BB-9BDC-D5A7-B542F9820B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89760" y="2419350"/>
            <a:ext cx="2834640" cy="283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1BDB8EE9-A270-3864-B66F-151FDFE201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4537" y="1569086"/>
            <a:ext cx="385572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l-G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File components: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l-G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tillium Web" panose="00000500000000000000" pitchFamily="2" charset="0"/>
            </a:endParaRP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l-GR" altLang="el-G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train.csv</a:t>
            </a:r>
            <a:r>
              <a:rPr kumimoji="0" lang="en-US" altLang="el-G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:</a:t>
            </a:r>
            <a:r>
              <a:rPr kumimoji="0" lang="el-GR" altLang="el-G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l-GR" altLang="el-G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includes 82 features describing elemental properties</a:t>
            </a:r>
            <a:endParaRPr kumimoji="0" lang="en-US" altLang="el-G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l-G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tillium Web" panose="00000500000000000000" pitchFamily="2" charset="0"/>
            </a:endParaRPr>
          </a:p>
          <a:p>
            <a:pPr marL="17145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l-GR" altLang="el-G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unique_m.csv</a:t>
            </a:r>
            <a:r>
              <a:rPr kumimoji="0" lang="en-US" altLang="el-G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rPr>
              <a:t>:</a:t>
            </a:r>
            <a:r>
              <a:rPr kumimoji="0" lang="el-GR" altLang="el-G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l-GR" altLang="el-G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detailed compositional data, </a:t>
            </a:r>
            <a:r>
              <a:rPr kumimoji="0" lang="en-US" altLang="el-G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l-GR" altLang="el-G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fractional presence of each chemical element in a material. </a:t>
            </a:r>
            <a:r>
              <a:rPr kumimoji="0" lang="en-US" altLang="el-G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l-GR" altLang="el-G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4D5D008-0E4B-895C-C4CE-E9BBEAED6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57" y="1066800"/>
            <a:ext cx="4656050" cy="3421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>
            <a:spLocks noGrp="1"/>
          </p:cNvSpPr>
          <p:nvPr>
            <p:ph type="subTitle" idx="13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none" dirty="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Feature </a:t>
            </a:r>
            <a:r>
              <a:rPr lang="en" u="none" dirty="0">
                <a:solidFill>
                  <a:schemeClr val="dk1"/>
                </a:solidFill>
                <a:latin typeface="Titillium Web" panose="00000500000000000000" pitchFamily="2" charset="0"/>
                <a:ea typeface="Asap"/>
                <a:cs typeface="Asap"/>
                <a:sym typeface="Asap"/>
              </a:rPr>
              <a:t>engineering</a:t>
            </a:r>
            <a:endParaRPr dirty="0">
              <a:latin typeface="Titillium Web" panose="00000500000000000000" pitchFamily="2" charset="0"/>
            </a:endParaRPr>
          </a:p>
        </p:txBody>
      </p:sp>
      <p:sp>
        <p:nvSpPr>
          <p:cNvPr id="371" name="Google Shape;371;p27"/>
          <p:cNvSpPr txBox="1">
            <a:spLocks noGrp="1"/>
          </p:cNvSpPr>
          <p:nvPr>
            <p:ph type="title" idx="5"/>
          </p:nvPr>
        </p:nvSpPr>
        <p:spPr>
          <a:xfrm>
            <a:off x="837975" y="1338325"/>
            <a:ext cx="694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72" name="Google Shape;372;p27"/>
          <p:cNvSpPr txBox="1">
            <a:spLocks noGrp="1"/>
          </p:cNvSpPr>
          <p:nvPr>
            <p:ph type="subTitle" idx="9"/>
          </p:nvPr>
        </p:nvSpPr>
        <p:spPr>
          <a:xfrm>
            <a:off x="1532475" y="1298930"/>
            <a:ext cx="6784500" cy="3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none" dirty="0">
                <a:solidFill>
                  <a:schemeClr val="dk1"/>
                </a:solidFill>
                <a:latin typeface="Titillium Web" panose="00000500000000000000" pitchFamily="2" charset="0"/>
                <a:ea typeface="Asap"/>
                <a:cs typeface="Asap"/>
                <a:sym typeface="Asap"/>
              </a:rPr>
              <a:t>Model</a:t>
            </a:r>
            <a:r>
              <a:rPr lang="en" sz="2000" u="none" dirty="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selection</a:t>
            </a:r>
            <a:endParaRPr lang="en-US" dirty="0"/>
          </a:p>
        </p:txBody>
      </p:sp>
      <p:sp>
        <p:nvSpPr>
          <p:cNvPr id="373" name="Google Shape;373;p27"/>
          <p:cNvSpPr txBox="1">
            <a:spLocks noGrp="1"/>
          </p:cNvSpPr>
          <p:nvPr>
            <p:ph type="subTitle" idx="15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none" dirty="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Predicting new materials</a:t>
            </a:r>
            <a:endParaRPr dirty="0"/>
          </a:p>
        </p:txBody>
      </p:sp>
      <p:sp>
        <p:nvSpPr>
          <p:cNvPr id="374" name="Google Shape;374;p27"/>
          <p:cNvSpPr txBox="1">
            <a:spLocks noGrp="1"/>
          </p:cNvSpPr>
          <p:nvPr>
            <p:ph type="title"/>
          </p:nvPr>
        </p:nvSpPr>
        <p:spPr>
          <a:xfrm>
            <a:off x="837975" y="4575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Sections</a:t>
            </a:r>
            <a:endParaRPr sz="2500" dirty="0"/>
          </a:p>
        </p:txBody>
      </p:sp>
      <p:sp>
        <p:nvSpPr>
          <p:cNvPr id="375" name="Google Shape;375;p27"/>
          <p:cNvSpPr txBox="1">
            <a:spLocks noGrp="1"/>
          </p:cNvSpPr>
          <p:nvPr>
            <p:ph type="subTitle" idx="3"/>
          </p:nvPr>
        </p:nvSpPr>
        <p:spPr>
          <a:xfrm>
            <a:off x="1532475" y="3191488"/>
            <a:ext cx="67845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Detecting outliers</a:t>
            </a: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376" name="Google Shape;376;p27"/>
          <p:cNvSpPr txBox="1">
            <a:spLocks noGrp="1"/>
          </p:cNvSpPr>
          <p:nvPr>
            <p:ph type="subTitle" idx="1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Finding t</a:t>
            </a:r>
            <a:r>
              <a:rPr lang="en-US" dirty="0"/>
              <a:t>he</a:t>
            </a:r>
            <a:r>
              <a:rPr lang="en" dirty="0"/>
              <a:t> best best performing model for our dataset</a:t>
            </a:r>
            <a:endParaRPr dirty="0"/>
          </a:p>
        </p:txBody>
      </p:sp>
      <p:sp>
        <p:nvSpPr>
          <p:cNvPr id="377" name="Google Shape;377;p27"/>
          <p:cNvSpPr txBox="1">
            <a:spLocks noGrp="1"/>
          </p:cNvSpPr>
          <p:nvPr>
            <p:ph type="subTitle" idx="2"/>
          </p:nvPr>
        </p:nvSpPr>
        <p:spPr>
          <a:xfrm>
            <a:off x="1532475" y="2383625"/>
            <a:ext cx="67845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</a:t>
            </a:r>
            <a:r>
              <a:rPr lang="en-US" dirty="0"/>
              <a:t>h</a:t>
            </a:r>
            <a:r>
              <a:rPr lang="en" dirty="0"/>
              <a:t>ich features contribute the most and which ones can be excluded</a:t>
            </a:r>
            <a:endParaRPr dirty="0"/>
          </a:p>
        </p:txBody>
      </p:sp>
      <p:sp>
        <p:nvSpPr>
          <p:cNvPr id="378" name="Google Shape;378;p27"/>
          <p:cNvSpPr txBox="1">
            <a:spLocks noGrp="1"/>
          </p:cNvSpPr>
          <p:nvPr>
            <p:ph type="subTitle" idx="4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Finding new combinations of elements with high Tc</a:t>
            </a:r>
            <a:endParaRPr dirty="0"/>
          </a:p>
        </p:txBody>
      </p:sp>
      <p:sp>
        <p:nvSpPr>
          <p:cNvPr id="379" name="Google Shape;379;p27"/>
          <p:cNvSpPr txBox="1">
            <a:spLocks noGrp="1"/>
          </p:cNvSpPr>
          <p:nvPr>
            <p:ph type="title" idx="6"/>
          </p:nvPr>
        </p:nvSpPr>
        <p:spPr>
          <a:xfrm>
            <a:off x="837975" y="2972525"/>
            <a:ext cx="694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380" name="Google Shape;380;p27"/>
          <p:cNvSpPr txBox="1">
            <a:spLocks noGrp="1"/>
          </p:cNvSpPr>
          <p:nvPr>
            <p:ph type="title" idx="7"/>
          </p:nvPr>
        </p:nvSpPr>
        <p:spPr>
          <a:xfrm>
            <a:off x="837975" y="2154225"/>
            <a:ext cx="694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81" name="Google Shape;381;p27"/>
          <p:cNvSpPr txBox="1">
            <a:spLocks noGrp="1"/>
          </p:cNvSpPr>
          <p:nvPr>
            <p:ph type="title" idx="8"/>
          </p:nvPr>
        </p:nvSpPr>
        <p:spPr>
          <a:xfrm>
            <a:off x="837975" y="3790825"/>
            <a:ext cx="694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382" name="Google Shape;382;p27"/>
          <p:cNvSpPr txBox="1">
            <a:spLocks noGrp="1"/>
          </p:cNvSpPr>
          <p:nvPr>
            <p:ph type="subTitle" idx="14"/>
          </p:nvPr>
        </p:nvSpPr>
        <p:spPr>
          <a:xfrm>
            <a:off x="1521525" y="2958025"/>
            <a:ext cx="6784500" cy="3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none" dirty="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Anomaly detection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0"/>
          <p:cNvSpPr txBox="1">
            <a:spLocks noGrp="1"/>
          </p:cNvSpPr>
          <p:nvPr>
            <p:ph type="title"/>
          </p:nvPr>
        </p:nvSpPr>
        <p:spPr>
          <a:xfrm>
            <a:off x="720000" y="1478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1. Model Selection</a:t>
            </a:r>
            <a:endParaRPr sz="2500" dirty="0"/>
          </a:p>
        </p:txBody>
      </p:sp>
      <p:graphicFrame>
        <p:nvGraphicFramePr>
          <p:cNvPr id="1136" name="Google Shape;1136;p40"/>
          <p:cNvGraphicFramePr/>
          <p:nvPr>
            <p:extLst>
              <p:ext uri="{D42A27DB-BD31-4B8C-83A1-F6EECF244321}">
                <p14:modId xmlns:p14="http://schemas.microsoft.com/office/powerpoint/2010/main" val="190956208"/>
              </p:ext>
            </p:extLst>
          </p:nvPr>
        </p:nvGraphicFramePr>
        <p:xfrm>
          <a:off x="1451610" y="1183696"/>
          <a:ext cx="6240779" cy="1497203"/>
        </p:xfrm>
        <a:graphic>
          <a:graphicData uri="http://schemas.openxmlformats.org/drawingml/2006/table">
            <a:tbl>
              <a:tblPr>
                <a:noFill/>
                <a:tableStyleId>{F6FE9F9F-F987-4554-B9F9-AD1FD633EFF4}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4389">
                  <a:extLst>
                    <a:ext uri="{9D8B030D-6E8A-4147-A177-3AD203B41FA5}">
                      <a16:colId xmlns:a16="http://schemas.microsoft.com/office/drawing/2014/main" val="2223518009"/>
                    </a:ext>
                  </a:extLst>
                </a:gridCol>
                <a:gridCol w="718170">
                  <a:extLst>
                    <a:ext uri="{9D8B030D-6E8A-4147-A177-3AD203B41FA5}">
                      <a16:colId xmlns:a16="http://schemas.microsoft.com/office/drawing/2014/main" val="1062354292"/>
                    </a:ext>
                  </a:extLst>
                </a:gridCol>
              </a:tblGrid>
              <a:tr h="649381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 dirty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Titillium Web"/>
                          <a:cs typeface="Helvetica" panose="020B0604020202020204" pitchFamily="34" charset="0"/>
                          <a:sym typeface="Titillium Web"/>
                        </a:rPr>
                        <a:t>Model</a:t>
                      </a:r>
                      <a:endParaRPr sz="1050" b="1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Titillium Web"/>
                        <a:cs typeface="Helvetica" panose="020B0604020202020204" pitchFamily="34" charset="0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Linear Regression </a:t>
                      </a:r>
                      <a:endParaRPr sz="1050" b="1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Titillium Web"/>
                        <a:cs typeface="Helvetica" panose="020B0604020202020204" pitchFamily="34" charset="0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K-Nearest Neighbors</a:t>
                      </a:r>
                      <a:endParaRPr lang="en-US" sz="1050" b="1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Titillium Web"/>
                        <a:cs typeface="Helvetica" panose="020B0604020202020204" pitchFamily="34" charset="0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5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Gradient boost </a:t>
                      </a:r>
                      <a:endParaRPr sz="1050" b="1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Titillium Web"/>
                        <a:cs typeface="Helvetica" panose="020B0604020202020204" pitchFamily="34" charset="0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Random Forest</a:t>
                      </a:r>
                      <a:endParaRPr lang="en-US" sz="1050" b="1" dirty="0">
                        <a:solidFill>
                          <a:srgbClr val="C00000"/>
                        </a:solidFill>
                        <a:latin typeface="Helvetica" panose="020B0604020202020204" pitchFamily="34" charset="0"/>
                        <a:ea typeface="Titillium Web"/>
                        <a:cs typeface="Helvetica" panose="020B0604020202020204" pitchFamily="34" charset="0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SVR</a:t>
                      </a:r>
                      <a:endParaRPr sz="1050" b="1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Titillium Web"/>
                        <a:cs typeface="Helvetica" panose="020B0604020202020204" pitchFamily="34" charset="0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MLP </a:t>
                      </a:r>
                      <a:endParaRPr sz="1050" b="1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Titillium Web"/>
                        <a:cs typeface="Helvetica" panose="020B0604020202020204" pitchFamily="34" charset="0"/>
                        <a:sym typeface="Titillium Web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6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RMSE</a:t>
                      </a:r>
                      <a:endParaRPr sz="11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17.38</a:t>
                      </a:r>
                      <a:endParaRPr sz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10.44</a:t>
                      </a:r>
                      <a:endParaRPr sz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12.33</a:t>
                      </a:r>
                      <a:endParaRPr sz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9.04</a:t>
                      </a:r>
                      <a:endParaRPr sz="12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15.78</a:t>
                      </a:r>
                      <a:endParaRPr sz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10.63</a:t>
                      </a:r>
                      <a:endParaRPr sz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8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Cross validation 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RMSE</a:t>
                      </a:r>
                      <a:endParaRPr sz="6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45700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</a:t>
                      </a:r>
                      <a:r>
                        <a:rPr lang="el-G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7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.</a:t>
                      </a:r>
                      <a:r>
                        <a:rPr lang="el-G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70</a:t>
                      </a:r>
                      <a:endParaRPr sz="105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11.35</a:t>
                      </a:r>
                      <a:endParaRPr sz="105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</a:t>
                      </a:r>
                      <a:r>
                        <a:rPr lang="el-G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2.76</a:t>
                      </a:r>
                      <a:endParaRPr sz="105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-GR" sz="1200" b="1" i="0" u="none" strike="noStrike" cap="non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9.79</a:t>
                      </a:r>
                      <a:endParaRPr sz="105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16.60</a:t>
                      </a:r>
                      <a:endParaRPr sz="105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11.49</a:t>
                      </a:r>
                      <a:endParaRPr sz="105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sap"/>
                      </a:endParaRPr>
                    </a:p>
                  </a:txBody>
                  <a:tcPr marL="91425" marR="27425" marT="18275" marB="182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BA7290E-B089-CF46-B931-CD55A3FBDF17}"/>
              </a:ext>
            </a:extLst>
          </p:cNvPr>
          <p:cNvSpPr txBox="1"/>
          <p:nvPr/>
        </p:nvSpPr>
        <p:spPr>
          <a:xfrm>
            <a:off x="2331720" y="795678"/>
            <a:ext cx="4579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RMSE comparison for different Regression models:</a:t>
            </a:r>
            <a:endParaRPr lang="el-GR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24ED92-4309-EA10-4366-B06C7B14C39A}"/>
              </a:ext>
            </a:extLst>
          </p:cNvPr>
          <p:cNvSpPr txBox="1"/>
          <p:nvPr/>
        </p:nvSpPr>
        <p:spPr>
          <a:xfrm>
            <a:off x="1451609" y="2944141"/>
            <a:ext cx="624077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Optimal hyperparameters found for Random Forest:</a:t>
            </a:r>
          </a:p>
          <a:p>
            <a:endParaRPr lang="en-US" sz="1200" dirty="0">
              <a:latin typeface="Helvetica" panose="020B0604020202020204" pitchFamily="34" charset="0"/>
              <a:ea typeface="Aptos" panose="020B0004020202020204" pitchFamily="34" charset="0"/>
              <a:cs typeface="Helvetica" panose="020B0604020202020204" pitchFamily="34" charset="0"/>
            </a:endParaRPr>
          </a:p>
          <a:p>
            <a:r>
              <a:rPr lang="en-US" sz="1200" dirty="0">
                <a:effectLst/>
                <a:latin typeface="Helvetica" panose="020B0604020202020204" pitchFamily="34" charset="0"/>
                <a:ea typeface="Aptos" panose="020B0004020202020204" pitchFamily="34" charset="0"/>
                <a:cs typeface="Helvetica" panose="020B0604020202020204" pitchFamily="34" charset="0"/>
              </a:rPr>
              <a:t>Parameters : </a:t>
            </a:r>
            <a:r>
              <a:rPr lang="en-US" sz="1200" i="1" dirty="0">
                <a:solidFill>
                  <a:srgbClr val="C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Helvetica" panose="020B0604020202020204" pitchFamily="34" charset="0"/>
              </a:rPr>
              <a:t>{</a:t>
            </a:r>
            <a:r>
              <a:rPr lang="en-US" sz="1200" i="1" dirty="0" err="1">
                <a:solidFill>
                  <a:srgbClr val="C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Helvetica" panose="020B0604020202020204" pitchFamily="34" charset="0"/>
              </a:rPr>
              <a:t>max_depth</a:t>
            </a:r>
            <a:r>
              <a:rPr lang="en-US" sz="1200" i="1" dirty="0">
                <a:solidFill>
                  <a:srgbClr val="C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Helvetica" panose="020B0604020202020204" pitchFamily="34" charset="0"/>
              </a:rPr>
              <a:t>=20, </a:t>
            </a:r>
            <a:r>
              <a:rPr lang="en-US" sz="1200" i="1" dirty="0" err="1">
                <a:solidFill>
                  <a:srgbClr val="C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Helvetica" panose="020B0604020202020204" pitchFamily="34" charset="0"/>
              </a:rPr>
              <a:t>min_samples_split</a:t>
            </a:r>
            <a:r>
              <a:rPr lang="en-US" sz="1200" i="1" dirty="0">
                <a:solidFill>
                  <a:srgbClr val="C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Helvetica" panose="020B0604020202020204" pitchFamily="34" charset="0"/>
              </a:rPr>
              <a:t>=2, </a:t>
            </a:r>
            <a:r>
              <a:rPr lang="en-US" sz="1200" i="1" dirty="0" err="1">
                <a:solidFill>
                  <a:srgbClr val="C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Helvetica" panose="020B0604020202020204" pitchFamily="34" charset="0"/>
              </a:rPr>
              <a:t>n_estimators</a:t>
            </a:r>
            <a:r>
              <a:rPr lang="en-US" sz="1200" i="1" dirty="0">
                <a:solidFill>
                  <a:srgbClr val="C00000"/>
                </a:solidFill>
                <a:effectLst/>
                <a:latin typeface="Helvetica" panose="020B0604020202020204" pitchFamily="34" charset="0"/>
                <a:ea typeface="Aptos" panose="020B0004020202020204" pitchFamily="34" charset="0"/>
                <a:cs typeface="Helvetica" panose="020B0604020202020204" pitchFamily="34" charset="0"/>
              </a:rPr>
              <a:t>=300}</a:t>
            </a:r>
          </a:p>
          <a:p>
            <a:endParaRPr lang="en-US" sz="1200" i="1" dirty="0">
              <a:solidFill>
                <a:srgbClr val="C00000"/>
              </a:solidFill>
              <a:effectLst/>
              <a:latin typeface="Helvetica" panose="020B0604020202020204" pitchFamily="34" charset="0"/>
              <a:ea typeface="Aptos" panose="020B0004020202020204" pitchFamily="34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With final </a:t>
            </a:r>
            <a:r>
              <a:rPr lang="en-U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RMSE: 8.95 </a:t>
            </a:r>
            <a:endParaRPr lang="el-GR" sz="1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CB91179A-D41A-68EB-A53D-7E305274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B2A001-98F8-0432-2883-0683223B5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5040" y="140931"/>
            <a:ext cx="4693920" cy="62484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2500" dirty="0">
                <a:latin typeface="Titillium Web" panose="00000500000000000000" pitchFamily="2" charset="0"/>
                <a:ea typeface="Asap"/>
                <a:cs typeface="Asap"/>
                <a:sym typeface="Asap"/>
              </a:rPr>
              <a:t>2. </a:t>
            </a:r>
            <a:r>
              <a:rPr lang="en-US" sz="2500" u="none" dirty="0">
                <a:solidFill>
                  <a:schemeClr val="dk1"/>
                </a:solidFill>
                <a:latin typeface="Titillium Web" panose="00000500000000000000" pitchFamily="2" charset="0"/>
                <a:ea typeface="Asap"/>
                <a:cs typeface="Asap"/>
                <a:sym typeface="Asap"/>
              </a:rPr>
              <a:t>Feature engineering</a:t>
            </a:r>
            <a:endParaRPr lang="en-US" sz="2500" dirty="0">
              <a:latin typeface="Titillium Web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A2E98-E2ED-2F0F-23FC-964DC4C58DA7}"/>
              </a:ext>
            </a:extLst>
          </p:cNvPr>
          <p:cNvSpPr txBox="1"/>
          <p:nvPr/>
        </p:nvSpPr>
        <p:spPr>
          <a:xfrm>
            <a:off x="716280" y="830580"/>
            <a:ext cx="345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Random Forest’s feature importance:</a:t>
            </a:r>
            <a:endParaRPr lang="el-GR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7DE774-367D-06CC-285C-D303D2409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11" y="1203166"/>
            <a:ext cx="4472941" cy="33809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B21555-7D4F-3BC1-61EB-9E445629A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145" y="1138357"/>
            <a:ext cx="3185482" cy="37712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770361-6DD4-2C2A-4127-A329AFAD3555}"/>
              </a:ext>
            </a:extLst>
          </p:cNvPr>
          <p:cNvSpPr txBox="1"/>
          <p:nvPr/>
        </p:nvSpPr>
        <p:spPr>
          <a:xfrm>
            <a:off x="5989319" y="830580"/>
            <a:ext cx="345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SHAP feature importance:</a:t>
            </a:r>
            <a:endParaRPr lang="el-GR" b="1" dirty="0"/>
          </a:p>
        </p:txBody>
      </p:sp>
    </p:spTree>
    <p:extLst>
      <p:ext uri="{BB962C8B-B14F-4D97-AF65-F5344CB8AC3E}">
        <p14:creationId xmlns:p14="http://schemas.microsoft.com/office/powerpoint/2010/main" val="1684542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81819E9E-F661-079D-BB79-86AAF9FB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3FF51F-0A62-CC25-399C-6D8FF6C2C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5040" y="149425"/>
            <a:ext cx="4693920" cy="62484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2500" dirty="0">
                <a:latin typeface="Titillium Web" panose="00000500000000000000" pitchFamily="2" charset="0"/>
                <a:ea typeface="Asap"/>
                <a:cs typeface="Asap"/>
                <a:sym typeface="Asap"/>
              </a:rPr>
              <a:t>2. </a:t>
            </a:r>
            <a:r>
              <a:rPr lang="en-US" sz="2500" u="none" dirty="0">
                <a:solidFill>
                  <a:schemeClr val="dk1"/>
                </a:solidFill>
                <a:latin typeface="Titillium Web" panose="00000500000000000000" pitchFamily="2" charset="0"/>
                <a:ea typeface="Asap"/>
                <a:cs typeface="Asap"/>
                <a:sym typeface="Asap"/>
              </a:rPr>
              <a:t>Feature engineering</a:t>
            </a:r>
            <a:endParaRPr lang="en-US" sz="2500" dirty="0">
              <a:latin typeface="Titillium Web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B7386-1C65-F71D-25DA-C2C88B656F8A}"/>
              </a:ext>
            </a:extLst>
          </p:cNvPr>
          <p:cNvSpPr txBox="1"/>
          <p:nvPr/>
        </p:nvSpPr>
        <p:spPr>
          <a:xfrm>
            <a:off x="716280" y="830580"/>
            <a:ext cx="345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Random Forest’s feature selection:</a:t>
            </a:r>
            <a:endParaRPr lang="el-G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7FA980-185B-3B11-1FF9-C03DD65FB24A}"/>
              </a:ext>
            </a:extLst>
          </p:cNvPr>
          <p:cNvSpPr txBox="1"/>
          <p:nvPr/>
        </p:nvSpPr>
        <p:spPr>
          <a:xfrm>
            <a:off x="5189220" y="837921"/>
            <a:ext cx="345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SHAP feature selection:</a:t>
            </a:r>
            <a:endParaRPr lang="el-GR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A17C5D-488C-9179-3615-61DC5012A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60" y="1194672"/>
            <a:ext cx="4351020" cy="29371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917652-C381-127B-C7EA-3F673BDC9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" y="1194672"/>
            <a:ext cx="3017520" cy="298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5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1"/>
          <p:cNvSpPr txBox="1">
            <a:spLocks noGrp="1"/>
          </p:cNvSpPr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500" dirty="0"/>
              <a:t>3. Anomaly detection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6AE693-E7DE-3D50-B7C3-4D8EEAF9B679}"/>
              </a:ext>
            </a:extLst>
          </p:cNvPr>
          <p:cNvSpPr txBox="1"/>
          <p:nvPr/>
        </p:nvSpPr>
        <p:spPr>
          <a:xfrm>
            <a:off x="289871" y="1074101"/>
            <a:ext cx="35602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Based on the plot: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We assume an anomaly ratio of  ~1% for both techniques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We exclude data points with a critical temperature of 0 K </a:t>
            </a:r>
            <a:endParaRPr lang="el-GR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84484E8-A319-66DC-4018-985783A75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19" y="885825"/>
            <a:ext cx="4832985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CA07DDEE-02CE-EDA3-D408-847F2328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1">
            <a:extLst>
              <a:ext uri="{FF2B5EF4-FFF2-40B4-BE49-F238E27FC236}">
                <a16:creationId xmlns:a16="http://schemas.microsoft.com/office/drawing/2014/main" id="{3FB92AFA-5BC0-8A94-DECA-5E163C1841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9983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/>
              <a:t>3. Anomaly detection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D24F924-3C68-AA51-506D-91FDAD7B4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28" y="980308"/>
            <a:ext cx="4154063" cy="325540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2D770A5-C6CA-0149-F700-F49A1D92E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80308"/>
            <a:ext cx="4207624" cy="325540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0AE2421-98E1-F111-9A0A-B09F960DB23A}"/>
              </a:ext>
            </a:extLst>
          </p:cNvPr>
          <p:cNvSpPr txBox="1"/>
          <p:nvPr/>
        </p:nvSpPr>
        <p:spPr>
          <a:xfrm>
            <a:off x="3792743" y="672531"/>
            <a:ext cx="26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SVM Approach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l-GR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392A8F-4D5B-EA21-6A01-263DC39CEA4F}"/>
              </a:ext>
            </a:extLst>
          </p:cNvPr>
          <p:cNvSpPr txBox="1"/>
          <p:nvPr/>
        </p:nvSpPr>
        <p:spPr>
          <a:xfrm>
            <a:off x="3188970" y="4235712"/>
            <a:ext cx="2766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215 anomalies detected</a:t>
            </a:r>
            <a:endParaRPr lang="el-GR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600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7577210F-C1C9-8D79-603E-59A5948B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1">
            <a:extLst>
              <a:ext uri="{FF2B5EF4-FFF2-40B4-BE49-F238E27FC236}">
                <a16:creationId xmlns:a16="http://schemas.microsoft.com/office/drawing/2014/main" id="{26A23A24-24CC-7077-7A8E-9B64C37703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1470" y="295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/>
              <a:t>3. Anomaly detection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0AFA61-881C-B448-D2FD-A109D262F99E}"/>
              </a:ext>
            </a:extLst>
          </p:cNvPr>
          <p:cNvSpPr txBox="1"/>
          <p:nvPr/>
        </p:nvSpPr>
        <p:spPr>
          <a:xfrm>
            <a:off x="851470" y="4485920"/>
            <a:ext cx="2943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208-222 anomalies 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detected</a:t>
            </a:r>
            <a:endParaRPr lang="el-GR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31863B-5973-4DFE-7166-FFB4CB428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47" y="726160"/>
            <a:ext cx="7097506" cy="37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79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108C96B1-F277-AC09-840C-B3D9EAC56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1">
            <a:extLst>
              <a:ext uri="{FF2B5EF4-FFF2-40B4-BE49-F238E27FC236}">
                <a16:creationId xmlns:a16="http://schemas.microsoft.com/office/drawing/2014/main" id="{B4480F65-BF11-4D33-CF74-4AAC1279D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500" dirty="0">
                <a:latin typeface="Titillium Web" panose="00000500000000000000" pitchFamily="2" charset="0"/>
              </a:rPr>
              <a:t>3. </a:t>
            </a:r>
            <a:r>
              <a:rPr lang="en-US" sz="2500" u="none" dirty="0">
                <a:solidFill>
                  <a:schemeClr val="dk1"/>
                </a:solidFill>
                <a:latin typeface="Titillium Web" panose="00000500000000000000" pitchFamily="2" charset="0"/>
                <a:ea typeface="Asap"/>
                <a:cs typeface="Asap"/>
                <a:sym typeface="Asap"/>
              </a:rPr>
              <a:t>Predicting new materials</a:t>
            </a:r>
            <a:br>
              <a:rPr lang="en-US" sz="2500" dirty="0">
                <a:latin typeface="Titillium Web" panose="00000500000000000000" pitchFamily="2" charset="0"/>
              </a:rPr>
            </a:br>
            <a:endParaRPr lang="en-US" sz="2500" dirty="0">
              <a:latin typeface="Titillium Web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317EF-27D7-04CB-49E3-19B08E99656B}"/>
              </a:ext>
            </a:extLst>
          </p:cNvPr>
          <p:cNvSpPr txBox="1"/>
          <p:nvPr/>
        </p:nvSpPr>
        <p:spPr>
          <a:xfrm>
            <a:off x="581727" y="743388"/>
            <a:ext cx="64645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Trained a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RF</a:t>
            </a: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regression model on the second dataset .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RMSE = 10.3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200" dirty="0">
              <a:solidFill>
                <a:schemeClr val="accent1">
                  <a:lumMod val="5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l-G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We decide to use </a:t>
            </a: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Bayesian Optimization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to efficiently explore and optimize compositions.</a:t>
            </a:r>
            <a:endParaRPr kumimoji="0" lang="en-US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 dirty="0">
              <a:solidFill>
                <a:schemeClr val="accent1">
                  <a:lumMod val="5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 defined a binary search space to represent the </a:t>
            </a:r>
            <a:r>
              <a:rPr lang="en-US" sz="12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presence (1)</a:t>
            </a: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or </a:t>
            </a:r>
            <a:r>
              <a:rPr lang="en-US" sz="12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absence</a:t>
            </a: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(0)</a:t>
            </a: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endParaRPr lang="el-GR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l-GR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 each element in the composition.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l-GR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l-GR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68652-B0E9-B864-2767-336870E76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802" b="51665"/>
          <a:stretch/>
        </p:blipFill>
        <p:spPr>
          <a:xfrm>
            <a:off x="4289448" y="2201983"/>
            <a:ext cx="3866420" cy="21234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674A23-BC94-79BF-F889-C97DFFA8FE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670"/>
          <a:stretch/>
        </p:blipFill>
        <p:spPr>
          <a:xfrm>
            <a:off x="1413536" y="2201983"/>
            <a:ext cx="2347192" cy="212347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FC483B-9AB0-C447-02C5-C21AB77B4496}"/>
              </a:ext>
            </a:extLst>
          </p:cNvPr>
          <p:cNvCxnSpPr/>
          <p:nvPr/>
        </p:nvCxnSpPr>
        <p:spPr>
          <a:xfrm>
            <a:off x="6607056" y="1223783"/>
            <a:ext cx="7631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F48937B-C86F-010A-4BA0-DD4C0BAD1985}"/>
              </a:ext>
            </a:extLst>
          </p:cNvPr>
          <p:cNvSpPr txBox="1"/>
          <p:nvPr/>
        </p:nvSpPr>
        <p:spPr>
          <a:xfrm>
            <a:off x="7438953" y="1065654"/>
            <a:ext cx="4331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e.g.</a:t>
            </a:r>
            <a:endParaRPr lang="el-GR" sz="11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6451B3F-DAA2-97F4-B67C-44011E72E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36300"/>
              </p:ext>
            </p:extLst>
          </p:nvPr>
        </p:nvGraphicFramePr>
        <p:xfrm>
          <a:off x="7872090" y="932414"/>
          <a:ext cx="1069085" cy="538484"/>
        </p:xfrm>
        <a:graphic>
          <a:graphicData uri="http://schemas.openxmlformats.org/drawingml/2006/table">
            <a:tbl>
              <a:tblPr firstRow="1" bandRow="1">
                <a:tableStyleId>{53E1C401-8D57-4A1E-9C64-10C47AB42281}</a:tableStyleId>
              </a:tblPr>
              <a:tblGrid>
                <a:gridCol w="346327">
                  <a:extLst>
                    <a:ext uri="{9D8B030D-6E8A-4147-A177-3AD203B41FA5}">
                      <a16:colId xmlns:a16="http://schemas.microsoft.com/office/drawing/2014/main" val="3114570050"/>
                    </a:ext>
                  </a:extLst>
                </a:gridCol>
                <a:gridCol w="361379">
                  <a:extLst>
                    <a:ext uri="{9D8B030D-6E8A-4147-A177-3AD203B41FA5}">
                      <a16:colId xmlns:a16="http://schemas.microsoft.com/office/drawing/2014/main" val="1445412242"/>
                    </a:ext>
                  </a:extLst>
                </a:gridCol>
                <a:gridCol w="361379">
                  <a:extLst>
                    <a:ext uri="{9D8B030D-6E8A-4147-A177-3AD203B41FA5}">
                      <a16:colId xmlns:a16="http://schemas.microsoft.com/office/drawing/2014/main" val="788657612"/>
                    </a:ext>
                  </a:extLst>
                </a:gridCol>
              </a:tblGrid>
              <a:tr h="269242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</a:t>
                      </a:r>
                      <a:endParaRPr lang="el-GR" sz="9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Al</a:t>
                      </a:r>
                      <a:endParaRPr lang="el-GR" sz="9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Ar</a:t>
                      </a:r>
                      <a:endParaRPr lang="el-GR" sz="9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020166"/>
                  </a:ext>
                </a:extLst>
              </a:tr>
              <a:tr h="269242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0.5</a:t>
                      </a:r>
                      <a:endParaRPr lang="el-GR" sz="9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0</a:t>
                      </a:r>
                      <a:endParaRPr lang="el-GR" sz="9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</a:t>
                      </a:r>
                      <a:endParaRPr lang="el-GR" sz="90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14972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F5F031-8DD8-FA84-66C0-0C78D6BAC3A3}"/>
              </a:ext>
            </a:extLst>
          </p:cNvPr>
          <p:cNvCxnSpPr>
            <a:cxnSpLocks/>
          </p:cNvCxnSpPr>
          <p:nvPr/>
        </p:nvCxnSpPr>
        <p:spPr>
          <a:xfrm>
            <a:off x="8463355" y="1540042"/>
            <a:ext cx="0" cy="192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706559E-3C7B-7088-4A3E-11C7A9CC71D5}"/>
              </a:ext>
            </a:extLst>
          </p:cNvPr>
          <p:cNvSpPr txBox="1"/>
          <p:nvPr/>
        </p:nvSpPr>
        <p:spPr>
          <a:xfrm>
            <a:off x="8070699" y="1732547"/>
            <a:ext cx="7853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[1,0,1…]</a:t>
            </a:r>
            <a:endParaRPr lang="el-GR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256F8A-B39D-DDF0-C840-4FD4B6A1FF92}"/>
              </a:ext>
            </a:extLst>
          </p:cNvPr>
          <p:cNvSpPr txBox="1"/>
          <p:nvPr/>
        </p:nvSpPr>
        <p:spPr>
          <a:xfrm>
            <a:off x="8893054" y="1065654"/>
            <a:ext cx="2028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…</a:t>
            </a:r>
            <a:endParaRPr lang="el-GR" sz="1100" dirty="0"/>
          </a:p>
        </p:txBody>
      </p:sp>
    </p:spTree>
    <p:extLst>
      <p:ext uri="{BB962C8B-B14F-4D97-AF65-F5344CB8AC3E}">
        <p14:creationId xmlns:p14="http://schemas.microsoft.com/office/powerpoint/2010/main" val="4073365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1DC7461-B9A8-EB2F-9C31-8EA05276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964" y="912580"/>
            <a:ext cx="4004579" cy="31702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95F2A7-3332-785B-58DB-F2D3A4161A1B}"/>
              </a:ext>
            </a:extLst>
          </p:cNvPr>
          <p:cNvSpPr txBox="1"/>
          <p:nvPr/>
        </p:nvSpPr>
        <p:spPr>
          <a:xfrm>
            <a:off x="611891" y="1091335"/>
            <a:ext cx="346509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onstraints</a:t>
            </a:r>
            <a:r>
              <a:rPr kumimoji="0" lang="en-US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in the objective function to 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ensure realistic results: </a:t>
            </a:r>
            <a:endParaRPr kumimoji="0" lang="en-US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limiting element count</a:t>
            </a:r>
            <a:r>
              <a:rPr kumimoji="0" lang="en-US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(max: 4 and then  max: 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requiring a transition metal. </a:t>
            </a:r>
            <a:endParaRPr kumimoji="0" lang="en-US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l-GR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kumimoji="0" lang="en-US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First attempt: 300 iterations</a:t>
            </a:r>
          </a:p>
          <a:p>
            <a:endParaRPr kumimoji="0" lang="en-US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altLang="el-GR" sz="12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Second attempt : 180 iterations </a:t>
            </a:r>
            <a:endParaRPr kumimoji="0" lang="en-US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l-GR" sz="12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l-GR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/>
          </a:p>
          <a:p>
            <a:endParaRPr lang="el-GR" dirty="0"/>
          </a:p>
        </p:txBody>
      </p:sp>
      <p:sp>
        <p:nvSpPr>
          <p:cNvPr id="19" name="Google Shape;507;p31">
            <a:extLst>
              <a:ext uri="{FF2B5EF4-FFF2-40B4-BE49-F238E27FC236}">
                <a16:creationId xmlns:a16="http://schemas.microsoft.com/office/drawing/2014/main" id="{FE7BCF09-C30D-C729-2F16-ADE2484202FE}"/>
              </a:ext>
            </a:extLst>
          </p:cNvPr>
          <p:cNvSpPr txBox="1">
            <a:spLocks/>
          </p:cNvSpPr>
          <p:nvPr/>
        </p:nvSpPr>
        <p:spPr>
          <a:xfrm>
            <a:off x="720000" y="216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US" sz="2500" dirty="0">
                <a:latin typeface="Titillium Web" panose="00000500000000000000" pitchFamily="2" charset="0"/>
              </a:rPr>
              <a:t>3. </a:t>
            </a:r>
            <a:r>
              <a:rPr lang="en-US" sz="2500" dirty="0">
                <a:latin typeface="Titillium Web" panose="00000500000000000000" pitchFamily="2" charset="0"/>
                <a:ea typeface="Asap"/>
                <a:cs typeface="Asap"/>
                <a:sym typeface="Asap"/>
              </a:rPr>
              <a:t>Predicting new materials</a:t>
            </a:r>
            <a:br>
              <a:rPr lang="en-US" sz="2500" dirty="0">
                <a:latin typeface="Titillium Web" panose="00000500000000000000" pitchFamily="2" charset="0"/>
              </a:rPr>
            </a:br>
            <a:endParaRPr lang="en-US" sz="2500" dirty="0"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853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507;p31">
            <a:extLst>
              <a:ext uri="{FF2B5EF4-FFF2-40B4-BE49-F238E27FC236}">
                <a16:creationId xmlns:a16="http://schemas.microsoft.com/office/drawing/2014/main" id="{9884107B-1D51-2BCB-02FF-CC981B6BA3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065" y="22352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500" dirty="0">
                <a:latin typeface="Titillium Web" panose="00000500000000000000" pitchFamily="2" charset="0"/>
              </a:rPr>
              <a:t>3. </a:t>
            </a:r>
            <a:r>
              <a:rPr lang="en-US" sz="2500" u="none" dirty="0">
                <a:solidFill>
                  <a:schemeClr val="dk1"/>
                </a:solidFill>
                <a:latin typeface="Titillium Web" panose="00000500000000000000" pitchFamily="2" charset="0"/>
                <a:ea typeface="Asap"/>
                <a:cs typeface="Asap"/>
                <a:sym typeface="Asap"/>
              </a:rPr>
              <a:t>Predicting new materials</a:t>
            </a:r>
            <a:br>
              <a:rPr lang="en-US" sz="2500" dirty="0">
                <a:latin typeface="Titillium Web" panose="00000500000000000000" pitchFamily="2" charset="0"/>
              </a:rPr>
            </a:br>
            <a:endParaRPr lang="en-US" sz="2500" dirty="0">
              <a:latin typeface="Titillium Web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52550-CAEF-2D3D-3BC0-57B60B1F4980}"/>
              </a:ext>
            </a:extLst>
          </p:cNvPr>
          <p:cNvSpPr txBox="1"/>
          <p:nvPr/>
        </p:nvSpPr>
        <p:spPr>
          <a:xfrm>
            <a:off x="2289810" y="1326334"/>
            <a:ext cx="2106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Predicted materials :</a:t>
            </a:r>
            <a:endParaRPr lang="el-GR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A2B067B-32CD-0ACA-7891-2E0239257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050881"/>
              </p:ext>
            </p:extLst>
          </p:nvPr>
        </p:nvGraphicFramePr>
        <p:xfrm>
          <a:off x="2289810" y="1795462"/>
          <a:ext cx="4564380" cy="1552576"/>
        </p:xfrm>
        <a:graphic>
          <a:graphicData uri="http://schemas.openxmlformats.org/drawingml/2006/table">
            <a:tbl>
              <a:tblPr>
                <a:noFill/>
                <a:tableStyleId>{F6FE9F9F-F987-4554-B9F9-AD1FD633EFF4}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668180786"/>
                    </a:ext>
                  </a:extLst>
                </a:gridCol>
                <a:gridCol w="2186940">
                  <a:extLst>
                    <a:ext uri="{9D8B030D-6E8A-4147-A177-3AD203B41FA5}">
                      <a16:colId xmlns:a16="http://schemas.microsoft.com/office/drawing/2014/main" val="3452381781"/>
                    </a:ext>
                  </a:extLst>
                </a:gridCol>
              </a:tblGrid>
              <a:tr h="70257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Chemical Formula of Optimal Material: </a:t>
                      </a:r>
                      <a:endParaRPr lang="el-GR" b="1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Predicted Tc (K): </a:t>
                      </a:r>
                      <a:endParaRPr lang="el-GR" b="1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E8BD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54257"/>
                  </a:ext>
                </a:extLst>
              </a:tr>
              <a:tr h="38080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 Al </a:t>
                      </a:r>
                      <a:r>
                        <a:rPr lang="en-US" dirty="0" err="1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Ar</a:t>
                      </a:r>
                      <a:r>
                        <a:rPr lang="en-US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Mo</a:t>
                      </a:r>
                      <a:endParaRPr lang="el-GR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33.2466</a:t>
                      </a:r>
                      <a:r>
                        <a:rPr lang="en-US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</a:t>
                      </a:r>
                      <a:endParaRPr lang="el-GR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220911"/>
                  </a:ext>
                </a:extLst>
              </a:tr>
              <a:tr h="46919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He Mn Zn </a:t>
                      </a:r>
                      <a:endParaRPr lang="el-GR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32.1031</a:t>
                      </a:r>
                      <a:r>
                        <a:rPr lang="en-US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</a:t>
                      </a:r>
                      <a:endParaRPr lang="el-GR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45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356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BE3DFA-E6D2-5CED-8E43-EF3B27490F8D}"/>
              </a:ext>
            </a:extLst>
          </p:cNvPr>
          <p:cNvSpPr txBox="1"/>
          <p:nvPr/>
        </p:nvSpPr>
        <p:spPr>
          <a:xfrm>
            <a:off x="720000" y="1334242"/>
            <a:ext cx="71269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We developed an </a:t>
            </a:r>
            <a:r>
              <a:rPr lang="en-US" sz="1600" b="1" dirty="0">
                <a:solidFill>
                  <a:srgbClr val="00B050"/>
                </a:solidFill>
              </a:rPr>
              <a:t>accurate model </a:t>
            </a:r>
            <a:r>
              <a:rPr lang="en-US" sz="1600" dirty="0"/>
              <a:t>for estimating </a:t>
            </a:r>
            <a:r>
              <a:rPr lang="en-US" sz="1600" b="1" dirty="0">
                <a:solidFill>
                  <a:srgbClr val="00B050"/>
                </a:solidFill>
              </a:rPr>
              <a:t>Tc</a:t>
            </a:r>
            <a:r>
              <a:rPr lang="en-US" sz="1600" dirty="0"/>
              <a:t> while optimizing computational efficiency by identifying the most </a:t>
            </a:r>
            <a:r>
              <a:rPr lang="en-US" sz="1600" b="1" dirty="0">
                <a:solidFill>
                  <a:srgbClr val="00B050"/>
                </a:solidFill>
              </a:rPr>
              <a:t>impactful features</a:t>
            </a:r>
            <a:r>
              <a:rPr lang="en-US" sz="1600" dirty="0"/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We uncovered potential </a:t>
            </a:r>
            <a:r>
              <a:rPr lang="en-US" sz="1600" b="1" dirty="0">
                <a:solidFill>
                  <a:srgbClr val="00B050"/>
                </a:solidFill>
              </a:rPr>
              <a:t>anomalies</a:t>
            </a:r>
            <a:r>
              <a:rPr lang="en-US" sz="1600" dirty="0"/>
              <a:t>, providing deeper insights into the unique nature of superconductivity.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We predicted </a:t>
            </a:r>
            <a:r>
              <a:rPr lang="en-US" sz="1600" b="1" dirty="0">
                <a:solidFill>
                  <a:srgbClr val="00B050"/>
                </a:solidFill>
              </a:rPr>
              <a:t>new</a:t>
            </a:r>
            <a:r>
              <a:rPr lang="en-US" sz="1600" dirty="0"/>
              <a:t> potential combinations of elements that could exhibit relatively High Tc yet to be researched (patent pending….)</a:t>
            </a:r>
            <a:endParaRPr lang="el-GR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chine Learning in Biostatistics - Master of Science in Biostatistics by Slidesgo">
  <a:themeElements>
    <a:clrScheme name="Simple Light">
      <a:dk1>
        <a:srgbClr val="263238"/>
      </a:dk1>
      <a:lt1>
        <a:srgbClr val="FFFFFF"/>
      </a:lt1>
      <a:dk2>
        <a:srgbClr val="F1F1F1"/>
      </a:dk2>
      <a:lt2>
        <a:srgbClr val="8F8F8F"/>
      </a:lt2>
      <a:accent1>
        <a:srgbClr val="87E8BD"/>
      </a:accent1>
      <a:accent2>
        <a:srgbClr val="9999FF"/>
      </a:accent2>
      <a:accent3>
        <a:srgbClr val="FFAB87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8715</TotalTime>
  <Words>482</Words>
  <Application>Microsoft Office PowerPoint</Application>
  <PresentationFormat>On-screen Show (16:9)</PresentationFormat>
  <Paragraphs>113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</vt:lpstr>
      <vt:lpstr>DM Sans</vt:lpstr>
      <vt:lpstr>Titillium Web</vt:lpstr>
      <vt:lpstr>Helvetica</vt:lpstr>
      <vt:lpstr>Wingdings</vt:lpstr>
      <vt:lpstr>Arial</vt:lpstr>
      <vt:lpstr>Nunito Light</vt:lpstr>
      <vt:lpstr>Asap</vt:lpstr>
      <vt:lpstr>Machine Learning in Biostatistics - Master of Science in Biostatistics by Slidesgo</vt:lpstr>
      <vt:lpstr>Machine Learning  Predictions  for Superconductors</vt:lpstr>
      <vt:lpstr>Introduction</vt:lpstr>
      <vt:lpstr>Dataset Overview </vt:lpstr>
      <vt:lpstr>1</vt:lpstr>
      <vt:lpstr>1. Model Selection</vt:lpstr>
      <vt:lpstr>2. Feature engineering</vt:lpstr>
      <vt:lpstr>2. Feature engineering</vt:lpstr>
      <vt:lpstr>3. Anomaly detection</vt:lpstr>
      <vt:lpstr>3. Anomaly detection</vt:lpstr>
      <vt:lpstr>3. Anomaly detection</vt:lpstr>
      <vt:lpstr>3. Predicting new materials </vt:lpstr>
      <vt:lpstr>PowerPoint Presentation</vt:lpstr>
      <vt:lpstr>3. Predicting new materials 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Ανδρέας Τερσένοβ</cp:lastModifiedBy>
  <cp:revision>8</cp:revision>
  <dcterms:modified xsi:type="dcterms:W3CDTF">2025-01-28T17:03:56Z</dcterms:modified>
</cp:coreProperties>
</file>